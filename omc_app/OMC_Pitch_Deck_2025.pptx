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00D4F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00D4FF"/>
                </a:solidFill>
                <a:latin typeface="Arial"/>
              </a:rPr>
              <a:t>Revenue Projection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0FF8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200</c:v>
                </c:pt>
                <c:pt idx="2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00FF8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2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2D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731520"/>
            <a:ext cx="1463040" cy="146304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254000" dist="50800" dir="16200000">
              <a:srgbClr val="00d4ff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OPINIONMARKETCAP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INFINITE MARKETPLACE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decentralized Opinion Lab where every question becomes a tradable asset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98%</a:t>
            </a:r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Revenue to Creators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</a:rPr>
              <a:t>100M+</a:t>
            </a:r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Potential Markets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</a:rPr>
              <a:t>LIVE</a:t>
            </a:r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On Base Mainnet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Round |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Google Search Creates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Never Seen a Cent.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331111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$250B+ Search Ad Revenue
</a:t>
            </a:r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</a:rPr>
              <a:t>Google captures 100% of the value created by YOUR searches and opinions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Systems Fail Creators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• Google: </a:t>
            </a:r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8892A8"/>
                </a:solidFill>
              </a:rPr>
              <a:t>100% revenue to Google
</a:t>
            </a:r>
            <a:pPr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• Polymarket: </a:t>
            </a:r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8892A8"/>
                </a:solidFill>
              </a:rPr>
              <a:t>~500 markets only
</a:t>
            </a:r>
            <a:pPr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• Reddit/Quora: </a:t>
            </a:r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8892A8"/>
                </a:solidFill>
              </a:rPr>
              <a:t>Zero compensation
</a:t>
            </a:r>
            <a:pPr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• AI/LLMs: </a:t>
            </a:r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8892A8"/>
                </a:solidFill>
              </a:rPr>
              <a:t>No ownership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3200400"/>
          </a:xfrm>
          <a:prstGeom prst="roundRect">
            <a:avLst>
              <a:gd name="adj" fmla="val 4286"/>
            </a:avLst>
          </a:prstGeom>
          <a:solidFill>
            <a:srgbClr val="0D1A2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Million Ad Keywords = 100+ Million Opinion Markets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people ask represents a market opportunity. Every opinion has economic value.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D261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4747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Market Size
</a:t>
            </a:r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TAM: Infinite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L'Information Est Cassée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oundRect">
            <a:avLst>
              <a:gd name="adj" fmla="val 8333"/>
            </a:avLst>
          </a:prstGeom>
          <a:solidFill>
            <a:srgbClr val="2D1111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6B"/>
                </a:solidFill>
              </a:rPr>
              <a:t>$0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Ce que vous gagnez quand quelqu'un</a:t>
            </a:r>
            <a:endParaRPr lang="en-US" sz="4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lit votre avis sur Google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c'est un problème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6B6B"/>
                </a:solidFill>
              </a:rPr>
              <a:t>✕ Pas de récompense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892A8"/>
                </a:solidFill>
              </a:rPr>
              <a:t>pour créateurs de qualité
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6B6B"/>
                </a:solidFill>
              </a:rPr>
              <a:t>✕ SEO gaming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892A8"/>
                </a:solidFill>
              </a:rPr>
              <a:t>- meilleurs résultats ≠ meilleurs
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6B6B"/>
                </a:solidFill>
              </a:rPr>
              <a:t>✕ Algorithmes opaques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892A8"/>
                </a:solidFill>
              </a:rPr>
              <a:t>- personne ne sait
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6B6B"/>
                </a:solidFill>
              </a:rPr>
              <a:t>✕ Aucun skin in the game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8892A8"/>
                </a:solidFill>
              </a:rPr>
              <a:t>- avis sans valeur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va la valeur aujourd'hui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73736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0D1A24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👤 Vous créez du contenu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2194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8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12080" y="242316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2D1111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🏢 La plateforme capture tout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8803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8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310896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1A1A0D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93D"/>
                </a:solidFill>
              </a:rPr>
              <a:t>💰 Annonceurs paient pour vos données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3566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8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379476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1A0D24"/>
          </a:solidFill>
          <a:ln w="6350">
            <a:solidFill>
              <a:srgbClr val="8A2B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2BE2"/>
                </a:solidFill>
              </a:rPr>
              <a:t>📊 Vous = Le produit, pas le bénéficiaire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438912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0D261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434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💡 Et si vos opinions vous rapportaient de l'argent 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OpinionMarketCap: The Infinite Marketplace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1A2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C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MINT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Create any question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"Best CRM for startups?"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2D1111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32588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C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TRADE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Buy the answer spot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Dynamic pricing via bonding curve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261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25880"/>
            <a:ext cx="548640" cy="54864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C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EARN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Get paid when outbid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95% goes to you instantly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 Distribution Revolution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Google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47472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11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</a:rPr>
              <a:t>100%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</a:rPr>
              <a:t>To Platform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OMC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3474720"/>
            <a:ext cx="1645920" cy="777240"/>
          </a:xfrm>
          <a:prstGeom prst="roundRect">
            <a:avLst>
              <a:gd name="adj" fmla="val 5882"/>
            </a:avLst>
          </a:prstGeom>
          <a:solidFill>
            <a:srgbClr val="00FF88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35844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</a:rPr>
              <a:t>98%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</a:rPr>
              <a:t>To Creators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51760" y="4251960"/>
            <a:ext cx="1645920" cy="45720"/>
          </a:xfrm>
          <a:prstGeom prst="rect">
            <a:avLst/>
          </a:prstGeom>
          <a:solidFill>
            <a:srgbClr val="2A365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28346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0D1A24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Fee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291840"/>
            <a:ext cx="137160" cy="1371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Answer Owner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3273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95%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3611880"/>
            <a:ext cx="137160" cy="1371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593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Question Creator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3%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3931920"/>
            <a:ext cx="137160" cy="137160"/>
          </a:xfrm>
          <a:prstGeom prst="ellipse">
            <a:avLst/>
          </a:prstGeom>
          <a:solidFill>
            <a:srgbClr val="8892A8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39136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Platform (OMC)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39136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892A8"/>
                </a:solidFill>
              </a:rPr>
              <a:t>2%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Polymarket Has 500 Markets. We Have Infinite.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Polymarket vs OpinionMarketCap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D1111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POLYMARKET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892A8"/>
                </a:solidFill>
              </a:rPr>
              <a:t>Markets: ~500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892A8"/>
                </a:solidFill>
              </a:rPr>
              <a:t>Resolution: Once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892A8"/>
                </a:solidFill>
              </a:rPr>
              <a:t>Focus: Events only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892A8"/>
                </a:solidFill>
              </a:rPr>
              <a:t>Value: Platform-centric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6459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D261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OMC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Markets: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100M+
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Resolution: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Perpetual
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Focus: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Everything
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Value: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98% community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0D1A24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Market Examples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02920" cy="201168"/>
          </a:xfrm>
          <a:prstGeom prst="roundRect">
            <a:avLst>
              <a:gd name="adj" fmla="val 13636"/>
            </a:avLst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F1C"/>
                </a:solidFill>
              </a:rPr>
              <a:t>B2B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34440" y="37033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"Best CRM for startups?" - Salesforce vs HubSpot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959352"/>
            <a:ext cx="502920" cy="201168"/>
          </a:xfrm>
          <a:prstGeom prst="roundRect">
            <a:avLst>
              <a:gd name="adj" fmla="val 13636"/>
            </a:avLst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593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F1C"/>
                </a:solidFill>
              </a:rPr>
              <a:t>B2C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34440" y="39593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"Best pizza in Brooklyn?" - Restaurants compete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15384"/>
            <a:ext cx="502920" cy="201168"/>
          </a:xfrm>
          <a:prstGeom prst="roundRect">
            <a:avLst>
              <a:gd name="adj" fmla="val 13636"/>
            </a:avLst>
          </a:prstGeom>
          <a:solidFill>
            <a:srgbClr val="00FF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1538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F1C"/>
                </a:solidFill>
              </a:rPr>
              <a:t>CRYPTO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234440" y="42153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"Most promising L2 in 2025?" - Communities battle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471416"/>
            <a:ext cx="502920" cy="201168"/>
          </a:xfrm>
          <a:prstGeom prst="roundRect">
            <a:avLst>
              <a:gd name="adj" fmla="val 13636"/>
            </a:avLst>
          </a:prstGeom>
          <a:solidFill>
            <a:srgbClr val="FFD93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714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F1C"/>
                </a:solidFill>
              </a:rPr>
              <a:t>LUXURY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34440" y="44714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"Best iconic perfume?" - Brands pay premium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188720"/>
            <a:ext cx="3017520" cy="3566160"/>
          </a:xfrm>
          <a:prstGeom prst="roundRect">
            <a:avLst>
              <a:gd name="adj" fmla="val 3030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280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</a:rPr>
              <a:t>Total Addressable Market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1737360"/>
            <a:ext cx="2194560" cy="2194560"/>
          </a:xfrm>
          <a:prstGeom prst="ellipse">
            <a:avLst/>
          </a:prstGeom>
          <a:solidFill>
            <a:srgbClr val="1A1A0D"/>
          </a:solidFill>
          <a:ln w="25400">
            <a:solidFill>
              <a:srgbClr val="FFD9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93D"/>
                </a:solidFill>
              </a:rPr>
              <a:t>$250B+
</a:t>
            </a:r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Search Ad Market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943600" y="4023360"/>
            <a:ext cx="1188720" cy="640080"/>
          </a:xfrm>
          <a:prstGeom prst="ellipse">
            <a:avLst/>
          </a:prstGeom>
          <a:solidFill>
            <a:srgbClr val="0D1A2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4114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$2B+
</a:t>
            </a:r>
            <a:pPr algn="ctr" indent="0" marL="0">
              <a:buNone/>
            </a:pPr>
            <a:r>
              <a:rPr lang="en-US" sz="700" dirty="0">
                <a:solidFill>
                  <a:srgbClr val="8892A8"/>
                </a:solidFill>
              </a:rPr>
              <a:t>Prediction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4023360"/>
            <a:ext cx="1280160" cy="640080"/>
          </a:xfrm>
          <a:prstGeom prst="ellipse">
            <a:avLst/>
          </a:prstGeom>
          <a:solidFill>
            <a:srgbClr val="0D261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$100B+
</a:t>
            </a:r>
            <a:pPr algn="ctr" indent="0" marL="0">
              <a:buNone/>
            </a:pPr>
            <a:r>
              <a:rPr lang="en-US" sz="700" dirty="0">
                <a:solidFill>
                  <a:srgbClr val="8892A8"/>
                </a:solidFill>
              </a:rPr>
              <a:t>Creator Eco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Complete Trading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0D1A24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Marketplace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CoinMarketCap-style interface with 40 categories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2D1111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Create Opinions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3-step workflow, 1-100 USDC pricing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0D261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Portfolio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P&amp;L tracking, win rate, accumulated fees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109728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A1A0D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4612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</a:rPr>
              <a:t>Collaborative Pools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100 USDC threshold, pro-rata distribution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21488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A0D24"/>
          </a:solidFill>
          <a:ln w="6350">
            <a:solidFill>
              <a:srgbClr val="8A2B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2606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2BE2"/>
                </a:solidFill>
              </a:rPr>
              <a:t>Leaderboard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Real-time rankings of top traders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32004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A120D"/>
          </a:solidFill>
          <a:ln w="6350">
            <a:solidFill>
              <a:srgbClr val="FF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4612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</a:rPr>
              <a:t>Question Trading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886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Secondary market, 3% perpetual royalties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1097280"/>
            <a:ext cx="2834640" cy="3657600"/>
          </a:xfrm>
          <a:prstGeom prst="roundRect">
            <a:avLst>
              <a:gd name="adj" fmla="val 4839"/>
            </a:avLst>
          </a:prstGeom>
          <a:solidFill>
            <a:srgbClr val="0D2618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1234440"/>
            <a:ext cx="164592" cy="164592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234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LIVE ON MAINNET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16459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Blockchain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9320" y="1828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(Coinbase L2)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2148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Token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932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USDC (Stablecoin)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Contracts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89320" y="2834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Verified on BaseScan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3154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3337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UUPS Upgradeable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URL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8932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app.opinionmarketcap.xyz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2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Battle-Tested Smart Contract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Modular Contract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4389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54480"/>
            <a:ext cx="3108960" cy="438912"/>
          </a:xfrm>
          <a:prstGeom prst="roundRect">
            <a:avLst>
              <a:gd name="adj" fmla="val 10417"/>
            </a:avLst>
          </a:prstGeom>
          <a:solidFill>
            <a:srgbClr val="0A0F1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600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OpinionCore V3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Trading + Dynamic Pricing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9040" y="1664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19 KB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73152" cy="43891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2084832"/>
            <a:ext cx="3108960" cy="438912"/>
          </a:xfrm>
          <a:prstGeom prst="roundRect">
            <a:avLst>
              <a:gd name="adj" fmla="val 10417"/>
            </a:avLst>
          </a:prstGeom>
          <a:solidFill>
            <a:srgbClr val="0A0F1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1305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PoolManager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134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Collaborative Pools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49040" y="2194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18.1 KB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615184"/>
            <a:ext cx="73152" cy="43891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2615184"/>
            <a:ext cx="3108960" cy="438912"/>
          </a:xfrm>
          <a:prstGeom prst="roundRect">
            <a:avLst>
              <a:gd name="adj" fmla="val 10417"/>
            </a:avLst>
          </a:prstGeom>
          <a:solidFill>
            <a:srgbClr val="0A0F1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6609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FeeManager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284378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Fee Distribution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49040" y="27249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10.5 KB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45536"/>
            <a:ext cx="73152" cy="43891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" y="3145536"/>
            <a:ext cx="3108960" cy="438912"/>
          </a:xfrm>
          <a:prstGeom prst="roundRect">
            <a:avLst>
              <a:gd name="adj" fmla="val 10417"/>
            </a:avLst>
          </a:prstGeom>
          <a:solidFill>
            <a:srgbClr val="0A0F1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1912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</a:rPr>
              <a:t>OpinionExtensions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337413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Categories + Extensions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49040" y="325526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13.2 KB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675888"/>
            <a:ext cx="73152" cy="438912"/>
          </a:xfrm>
          <a:prstGeom prst="rect">
            <a:avLst/>
          </a:prstGeom>
          <a:solidFill>
            <a:srgbClr val="8A2BE2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3675888"/>
            <a:ext cx="3108960" cy="438912"/>
          </a:xfrm>
          <a:prstGeom prst="roundRect">
            <a:avLst>
              <a:gd name="adj" fmla="val 10417"/>
            </a:avLst>
          </a:prstGeom>
          <a:solidFill>
            <a:srgbClr val="0A0F1C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7216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2BE2"/>
                </a:solidFill>
              </a:rPr>
              <a:t>OpinionAdmin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39044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Governance + Config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49040" y="378561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9.6 KB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297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</a:rPr>
              <a:t>All contracts under 24KB limit 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0972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1A0D24"/>
          </a:solidFill>
          <a:ln w="6350">
            <a:solidFill>
              <a:srgbClr val="8A2B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188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2BE2"/>
                </a:solidFill>
              </a:rPr>
              <a:t>Dynamic Pricing V3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14173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Market regime-based pricing replaces fixed +10%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169164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0D1A24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7373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D4FF"/>
                </a:solidFill>
              </a:rPr>
              <a:t>CONSOLIDATION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892040" y="19202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-10% to +15%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24728" y="169164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0D2618"/>
          </a:solidFill>
          <a:ln/>
        </p:spPr>
      </p:sp>
      <p:sp>
        <p:nvSpPr>
          <p:cNvPr id="39" name="Text 37"/>
          <p:cNvSpPr/>
          <p:nvPr/>
        </p:nvSpPr>
        <p:spPr>
          <a:xfrm>
            <a:off x="5824728" y="17373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FF88"/>
                </a:solidFill>
              </a:rPr>
              <a:t>BULLISH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24728" y="19202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+5% to +40%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57416" y="169164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2D1111"/>
          </a:solidFill>
          <a:ln/>
        </p:spPr>
      </p:sp>
      <p:sp>
        <p:nvSpPr>
          <p:cNvPr id="42" name="Text 40"/>
          <p:cNvSpPr/>
          <p:nvPr/>
        </p:nvSpPr>
        <p:spPr>
          <a:xfrm>
            <a:off x="6757416" y="17373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6B6B"/>
                </a:solidFill>
              </a:rPr>
              <a:t>CORRECTION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757416" y="19202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-20% to +5%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90104" y="169164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1A1A0D"/>
          </a:solidFill>
          <a:ln/>
        </p:spPr>
      </p:sp>
      <p:sp>
        <p:nvSpPr>
          <p:cNvPr id="45" name="Text 43"/>
          <p:cNvSpPr/>
          <p:nvPr/>
        </p:nvSpPr>
        <p:spPr>
          <a:xfrm>
            <a:off x="7690104" y="17373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D93D"/>
                </a:solidFill>
              </a:rPr>
              <a:t>PARABOLIC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7690104" y="19202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+40% to +80%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46320" y="23317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14 entropy sources = Anti-bot protection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9260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776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BLOCKCHAIN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37760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Base Mainnet (L2)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Solidity 0.8.22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OpenZeppelin 5.4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656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FRONTEND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66560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Next.js 15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React 19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Wagmi + RainbowKit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Sustainable Revenue, Perpetual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Revenue Streams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Trading Fees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2% per trade, perpetual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2%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 Creation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Min 2 USDC per question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2+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D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Pool Creation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474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5 USDC per pool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93D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0D261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Recurring revenue per trade = Perpetual value capture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188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 Projections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150876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0D1A24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5727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Metric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5727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Year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15727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Year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1920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Questions Created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10,000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1,000,000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240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Trading Volume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2240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$500K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2240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$50M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2514600"/>
            <a:ext cx="3657600" cy="320040"/>
          </a:xfrm>
          <a:prstGeom prst="roundRect">
            <a:avLst>
              <a:gd name="adj" fmla="val 11429"/>
            </a:avLst>
          </a:prstGeom>
          <a:solidFill>
            <a:srgbClr val="0D261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2560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Platform Revenue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2560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$10K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2560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$1M+</a:t>
            </a:r>
            <a:endParaRPr lang="en-US" sz="10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4754880" y="3063240"/>
          <a:ext cx="39319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OMC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A0D2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2BE2"/>
                </a:solidFill>
              </a:rPr>
              <a:t>vs Polymarket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MARKETS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~500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391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100M+ potential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RESOLUTION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Once (ends)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Perpetual trading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VALUE FLOW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04495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Platform-centric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2278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98% to community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USE CASES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639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Events only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Any topic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143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A24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12070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86200" y="1234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vs Google 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16916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VALUE CAPTURE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9000" y="18562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100% to Google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20391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Creators earn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228600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RANKING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29000" y="245059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Opaque algorithm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9000" y="263347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Market-driven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9000" y="2880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INCENTIVES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29000" y="304495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SEO gaming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32278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Quality rewarded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29000" y="34747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TRANSPARENCY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29000" y="3639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Closed source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382219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On-chain, verifiable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1143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A1A0D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12070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66560" y="1234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</a:rPr>
              <a:t>vs AI/LLMs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16916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OWNERSHIP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09360" y="18562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Proprietary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20391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On-chain, owned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228600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INCENTIVES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245059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No skin in game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263347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Economic stake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2880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TRUTH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09360" y="304495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Model-driven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09360" y="32278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Market-validated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34747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UPDATES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09360" y="3639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Training cutoff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09360" y="382219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Real-time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D1A24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Moat: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Network effects + First mover advantage + 98% creator economics = Hard to replicate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MVP to Mass Adoption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73152"/>
          </a:xfrm>
          <a:prstGeom prst="roundRect">
            <a:avLst>
              <a:gd name="adj" fmla="val 50000"/>
            </a:avLst>
          </a:prstGeom>
          <a:solidFill>
            <a:srgbClr val="2A365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43000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042416"/>
            <a:ext cx="274320" cy="274320"/>
          </a:xfrm>
          <a:prstGeom prst="ellipse">
            <a:avLst/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1042416"/>
            <a:ext cx="274320" cy="274320"/>
          </a:xfrm>
          <a:prstGeom prst="ellipse">
            <a:avLst/>
          </a:prstGeom>
          <a:solidFill>
            <a:srgbClr val="141B2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042416"/>
            <a:ext cx="274320" cy="274320"/>
          </a:xfrm>
          <a:prstGeom prst="ellipse">
            <a:avLst/>
          </a:prstGeom>
          <a:solidFill>
            <a:srgbClr val="141B2D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1042416"/>
            <a:ext cx="274320" cy="274320"/>
          </a:xfrm>
          <a:prstGeom prst="ellipse">
            <a:avLst/>
          </a:prstGeom>
          <a:solidFill>
            <a:srgbClr val="141B2D"/>
          </a:solidFill>
          <a:ln w="25400">
            <a:solidFill>
              <a:srgbClr val="FFD9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0D2618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54480"/>
            <a:ext cx="109728" cy="109728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554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NOW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7830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MVP Live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057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Core contracts deployed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Trading functional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Pool system active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40 categories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146304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41B2D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554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Q1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17830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057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Community building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KOL partnerships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Mobile optimization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3017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Referral program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41B2D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54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Q2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17830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057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Token launch (TBD)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Governance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API for partners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017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B2B integrations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146304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41B2D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554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93D"/>
                </a:solidFill>
              </a:rPr>
              <a:t>2025+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17830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2057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Multi-chain deployment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Enterprise solutions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AI integration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3017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• Global expansion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7947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10K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188720" y="4343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Questions Y1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0896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$500K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108960" y="4343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Volume Y1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1M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029200" y="4343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Questions Y3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93D"/>
                </a:solidFill>
              </a:rPr>
              <a:t>$50M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949440" y="4343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Volume Y3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Opinion Revolution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0D1A2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Pre-Seed Round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$200K - $500K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8"/>
                </a:solidFill>
              </a:rPr>
              <a:t>Pour accélérer la croissance et l'adoption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114800" cy="2148840"/>
          </a:xfrm>
          <a:prstGeom prst="roundRect">
            <a:avLst>
              <a:gd name="adj" fmla="val 4255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Utilisation des fonds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37160" cy="137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632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 &amp; Growth (40%)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KOL partnerships, community, PR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37160" cy="1371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747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Development (35%)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Mobile app, UX, new features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3904488"/>
            <a:ext cx="13716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862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Operations &amp; Legal (15%)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Infrastructure, compliance, audits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4315968"/>
            <a:ext cx="137160" cy="13716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97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Reserve (10%)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48056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</a:rPr>
              <a:t>Runway buffer, opportunities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41B2D"/>
          </a:solidFill>
          <a:ln w="6350">
            <a:solidFill>
              <a:srgbClr val="2A36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Pourquoi Investir Maintenant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572768"/>
            <a:ext cx="182880" cy="182880"/>
          </a:xfrm>
          <a:prstGeom prst="ellipse">
            <a:avLst/>
          </a:prstGeom>
          <a:solidFill>
            <a:srgbClr val="0D261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5544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Produit LIVE sur mainnet - pas un concept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847088"/>
            <a:ext cx="182880" cy="182880"/>
          </a:xfrm>
          <a:prstGeom prst="ellipse">
            <a:avLst/>
          </a:prstGeom>
          <a:solidFill>
            <a:srgbClr val="0D2618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828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18288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Architecture technique solide et upgradable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121408"/>
            <a:ext cx="182880" cy="182880"/>
          </a:xfrm>
          <a:prstGeom prst="ellipse">
            <a:avLst/>
          </a:prstGeom>
          <a:solidFill>
            <a:srgbClr val="0D261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2103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First mover dans les "Opinion Markets"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395728"/>
            <a:ext cx="182880" cy="182880"/>
          </a:xfrm>
          <a:prstGeom prst="ellipse">
            <a:avLst/>
          </a:prstGeom>
          <a:solidFill>
            <a:srgbClr val="0D2618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2377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TAM massif - 100M+ marchés potentiels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2670048"/>
            <a:ext cx="182880" cy="182880"/>
          </a:xfrm>
          <a:prstGeom prst="ellipse">
            <a:avLst/>
          </a:prstGeom>
          <a:solidFill>
            <a:srgbClr val="0D2618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651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</a:rPr>
              <a:t>Valorisation early-stage attractive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24612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0D1A24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Contact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3703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7307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app.opinionmarketcap.xyz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37760" y="4023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4050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contact@opinionmarketcap.xyz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0" y="4343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🐦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349240" y="4370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@OpinionMktCap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8920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0D4FF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956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C"/>
                </a:solidFill>
              </a:rPr>
              <a:t>🚀 Let's Trade Opinions Together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OMC - The Infinite Marketplace</dc:title>
  <dc:subject>Pitch Deck Pre-Seed 2025</dc:subject>
  <dc:creator>OpinionMarketCap</dc:creator>
  <cp:lastModifiedBy>OpinionMarketCap</cp:lastModifiedBy>
  <cp:revision>1</cp:revision>
  <dcterms:created xsi:type="dcterms:W3CDTF">2026-01-20T11:08:00Z</dcterms:created>
  <dcterms:modified xsi:type="dcterms:W3CDTF">2026-01-20T11:08:00Z</dcterms:modified>
</cp:coreProperties>
</file>